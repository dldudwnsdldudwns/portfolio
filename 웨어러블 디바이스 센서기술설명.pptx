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58" r:id="rId3"/>
    <p:sldId id="257" r:id="rId4"/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89F59-381E-478F-B3C9-4BCAA607F9E3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CEB73-B303-4C27-8B78-54A6E3C9E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26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EB73-B303-4C27-8B78-54A6E3C9E92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38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DB40A-A3D7-05B0-B659-FCB7459FF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81B3E0-D2CF-BFFC-20CE-B4C1BDE72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84E2B2-3F29-EBC7-7855-4B4B8FAA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C11CA5-E54E-A658-27DD-E6189330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A9E1F-B2EA-FFFA-E87E-12A4DB4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7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3ED05-94DA-3888-D04B-DF332A82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C4E791-898F-5715-4295-6AD9ECB4A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0C689-E393-B85C-C8C0-5FE09EAC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9ADEAA-83B3-32AB-C97F-ABF352C8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41B13A-F52F-86F5-A09E-04213D74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12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F3ED2-88B2-0902-D956-EAAC53E5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176354-52F0-F2DD-14BA-EDB7BBD2E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3BE3C-E63F-D899-95FF-C46165E5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13901-F837-D860-3388-D8C0EE42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ED4B73-4B6B-EB9C-86C6-E44619CB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05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777D9-20BD-88BF-4343-1366F804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D05102-D42D-0614-02E1-14C62BBE7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ADF190-2C34-3CB2-44A5-70DF84357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09247D-CB3C-1702-A168-732971AD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A8FB7D-4A04-43F7-15E6-9556F9D1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18A42B-85AD-F6E7-3953-17E6DAC0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227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15BFC-54BF-9615-BB34-5669E078B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5C23C-7365-642B-D21D-D447C732C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5C50FC-279A-232E-D027-3E50F8FBF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CEB71B-9192-1184-34D6-BB9F754D5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445BCF-4B6E-BC27-F110-9AA6E0AC4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7C973A-3382-4769-0B2B-2E30131E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458730-AF04-5629-C86B-1546FDCB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1BCD00-4D96-7787-2587-0D2BCEBC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76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778EE-6C4F-F005-BD8D-CB7D3A185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0158E8-A188-BCC0-A4FE-BAAE83374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776F62-BD05-6ECB-F23B-09B62940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909B53-4839-160C-FEE6-D530BB2C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84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C79B55-15CF-8A42-FF22-A097CFD4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DE5113-B74B-F92B-AF07-25FBC913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50A1E-D3AF-F306-57DD-6E931B71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2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E17E8-B2C4-5CFA-6F84-5431EB2E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F77AA-0510-35F2-D936-B12B2EEB6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6DD878-15D2-5CF5-FDAE-FD1DD1B7E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030BD4-1A7E-2998-0657-0319436A7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3232D9-15AF-2353-7B90-759965293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AD49C7-5C39-AA44-C624-1D8C4C36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5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37077-F940-2C24-E151-EC43098F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D295AF-5A3B-8AA5-8718-391A982D8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5B932E-7537-CF24-A899-EF75B9C74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F270E0-BAF3-809E-1950-9EDF7055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9B0C02-A90D-B8FB-31C0-675ECF30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708616-A829-AF70-5EA1-D112E6D4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12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976B7-EFE9-DD69-7966-A911ECB5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E0AA88-FCB1-6446-E3F1-0EA37A9C3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C4A825-3FCF-36A7-EC28-893C0395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B9D68B-6405-77B5-D497-E97C863E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74EC94-698E-93AD-80C0-B9169393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10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483582-CA6B-26B5-EE80-361E100F7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83D6D2-3848-82EA-02F6-C5123DA6D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FEC3A-9254-E8BA-D727-E5CD22EA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2EDF9-E517-A47A-8DBB-BC11E53C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77CAF8-5744-6244-6413-DB5A19B6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8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35B8A9-EE63-02EE-F9C4-4A57E031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D8ABF7-DCFB-F0FC-AEFC-CEB320142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AD497-6143-0AFC-1213-970B198BA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6336C-FC9E-4266-982B-AEAD859B7E25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6EB565-2DCF-04A3-D54B-52F82F00E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20BB87-6ED9-BCD6-789C-DE7A10107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E317F-B852-4194-9CE8-812C98FD7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00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nalog.com/en/resources/analog-dialogue/articles/detecting-falls-3-axis-digital-accelerometer.html" TargetMode="Externa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EFF14-A040-CC57-ED2D-481C5E85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C904B37-495F-DE7E-F43F-03E5CF2C2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7" y="191335"/>
            <a:ext cx="2740947" cy="21187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713D60-D0A2-E3AC-332C-A761EA28B9F6}"/>
              </a:ext>
            </a:extLst>
          </p:cNvPr>
          <p:cNvSpPr txBox="1"/>
          <p:nvPr/>
        </p:nvSpPr>
        <p:spPr>
          <a:xfrm>
            <a:off x="1566270" y="5516978"/>
            <a:ext cx="5553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디바이스는 </a:t>
            </a:r>
            <a:r>
              <a:rPr lang="en-US" altLang="ko-KR" dirty="0"/>
              <a:t>Heart Rate mode </a:t>
            </a:r>
            <a:r>
              <a:rPr lang="ko-KR" altLang="en-US" dirty="0"/>
              <a:t>만을 사용합니다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8A32DB-ABE6-7E7B-8BEA-47724A10B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70" y="1250719"/>
            <a:ext cx="10149493" cy="19828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60A6EC1-3D9C-E058-0F5C-C023ECF08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270" y="3092455"/>
            <a:ext cx="9667853" cy="23575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4695315-0541-394E-3552-31886D2FC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103" y="1341022"/>
            <a:ext cx="5022735" cy="47206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41D0EBF-D03F-8B6D-A837-F0BDE001E984}"/>
              </a:ext>
            </a:extLst>
          </p:cNvPr>
          <p:cNvSpPr/>
          <p:nvPr/>
        </p:nvSpPr>
        <p:spPr>
          <a:xfrm>
            <a:off x="1689904" y="4178461"/>
            <a:ext cx="9282896" cy="428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69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9277-4EA6-2225-F9BE-F8C329ED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6B47AC8-9C15-5595-7739-5D3BBCB1C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7" y="191335"/>
            <a:ext cx="2740947" cy="21187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A25479D-297E-9E2B-ECE7-7156BF9DB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501" y="1250719"/>
            <a:ext cx="9715018" cy="2102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C5E115-77E8-FB67-A15C-A6FCE2BA6849}"/>
              </a:ext>
            </a:extLst>
          </p:cNvPr>
          <p:cNvSpPr txBox="1"/>
          <p:nvPr/>
        </p:nvSpPr>
        <p:spPr>
          <a:xfrm>
            <a:off x="1909822" y="1250719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Sample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6CA4CD-6EDA-F25F-481D-FC50C37B0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87" y="3133439"/>
            <a:ext cx="7824487" cy="31516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1B7430-93E1-2FF3-2230-63B02CE40508}"/>
              </a:ext>
            </a:extLst>
          </p:cNvPr>
          <p:cNvSpPr txBox="1"/>
          <p:nvPr/>
        </p:nvSpPr>
        <p:spPr>
          <a:xfrm>
            <a:off x="8283652" y="3812389"/>
            <a:ext cx="35894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개의 샘플이 </a:t>
            </a:r>
            <a:r>
              <a:rPr lang="en-US" altLang="ko-KR" dirty="0"/>
              <a:t>32</a:t>
            </a:r>
            <a:r>
              <a:rPr lang="ko-KR" altLang="en-US" dirty="0"/>
              <a:t>개의 슬롯이</a:t>
            </a:r>
            <a:endParaRPr lang="en-US" altLang="ko-KR" dirty="0"/>
          </a:p>
          <a:p>
            <a:r>
              <a:rPr lang="ko-KR" altLang="en-US" dirty="0"/>
              <a:t>있는 </a:t>
            </a:r>
            <a:r>
              <a:rPr lang="en-US" altLang="ko-KR" dirty="0"/>
              <a:t>FIFO</a:t>
            </a:r>
            <a:r>
              <a:rPr lang="ko-KR" altLang="en-US" dirty="0"/>
              <a:t>에 차례대로 쌓입니다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디바이스는 </a:t>
            </a:r>
            <a:r>
              <a:rPr lang="en-US" altLang="ko-KR" dirty="0"/>
              <a:t>HR </a:t>
            </a:r>
            <a:r>
              <a:rPr lang="ko-KR" altLang="en-US" dirty="0"/>
              <a:t>모드만 사용</a:t>
            </a:r>
            <a:endParaRPr lang="en-US" altLang="ko-KR" dirty="0"/>
          </a:p>
          <a:p>
            <a:r>
              <a:rPr lang="ko-KR" altLang="en-US" dirty="0"/>
              <a:t>하기 때문에 총 </a:t>
            </a:r>
            <a:r>
              <a:rPr lang="en-US" altLang="ko-KR" dirty="0"/>
              <a:t>92byte</a:t>
            </a:r>
            <a:r>
              <a:rPr lang="ko-KR" altLang="en-US" dirty="0"/>
              <a:t>의 </a:t>
            </a:r>
            <a:r>
              <a:rPr lang="en-US" altLang="ko-KR" dirty="0"/>
              <a:t>FIFO</a:t>
            </a:r>
            <a:r>
              <a:rPr lang="ko-KR" altLang="en-US" dirty="0"/>
              <a:t>를</a:t>
            </a:r>
            <a:endParaRPr lang="en-US" altLang="ko-KR" dirty="0"/>
          </a:p>
          <a:p>
            <a:r>
              <a:rPr lang="ko-KR" altLang="en-US" dirty="0"/>
              <a:t>사용합니다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1AF96D8-BDA4-90C6-1425-3B3763FBE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996" y="791500"/>
            <a:ext cx="2534004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8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1A2B-AED9-773E-36D6-3798EEE4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8C4A24B-DD66-1328-FEE9-F86C581E4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7" y="191335"/>
            <a:ext cx="2740947" cy="21187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ED8DD3C-78B8-52A9-29DD-A9FB37947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70" y="1284346"/>
            <a:ext cx="9546835" cy="18369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258399-4784-FD8A-A283-035204A55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590" y="3137401"/>
            <a:ext cx="5801535" cy="28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ADF074-2785-A78B-15C4-D1EA31F5A61F}"/>
              </a:ext>
            </a:extLst>
          </p:cNvPr>
          <p:cNvSpPr txBox="1"/>
          <p:nvPr/>
        </p:nvSpPr>
        <p:spPr>
          <a:xfrm>
            <a:off x="2569590" y="4138863"/>
            <a:ext cx="7988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SMP_AVE </a:t>
            </a:r>
            <a:r>
              <a:rPr lang="ko-KR" altLang="en-US" dirty="0"/>
              <a:t>값은 </a:t>
            </a:r>
            <a:r>
              <a:rPr lang="en-US" altLang="ko-KR" dirty="0"/>
              <a:t>8 </a:t>
            </a:r>
            <a:r>
              <a:rPr lang="ko-KR" altLang="en-US" dirty="0"/>
              <a:t>로 </a:t>
            </a:r>
            <a:r>
              <a:rPr lang="en-US" altLang="ko-KR" dirty="0"/>
              <a:t>8</a:t>
            </a:r>
            <a:r>
              <a:rPr lang="ko-KR" altLang="en-US" dirty="0"/>
              <a:t>개의 측정값들을 평균 내어 센서 </a:t>
            </a:r>
            <a:r>
              <a:rPr lang="en-US" altLang="ko-KR" dirty="0"/>
              <a:t>FIFO </a:t>
            </a:r>
            <a:r>
              <a:rPr lang="ko-KR" altLang="en-US" dirty="0"/>
              <a:t>에 저장합니다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8756A-1982-4801-B525-E4E634297128}"/>
              </a:ext>
            </a:extLst>
          </p:cNvPr>
          <p:cNvSpPr txBox="1"/>
          <p:nvPr/>
        </p:nvSpPr>
        <p:spPr>
          <a:xfrm>
            <a:off x="2569590" y="4706518"/>
            <a:ext cx="671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ROLLOVER </a:t>
            </a:r>
            <a:r>
              <a:rPr lang="ko-KR" altLang="en-US" dirty="0"/>
              <a:t>는 </a:t>
            </a:r>
            <a:r>
              <a:rPr lang="en-US" altLang="ko-KR" dirty="0"/>
              <a:t>FIFO</a:t>
            </a:r>
            <a:r>
              <a:rPr lang="ko-KR" altLang="en-US" dirty="0"/>
              <a:t>가 다 찼을 때 오래된 값을 덮어쓰게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AF879-8CA8-74D6-47A1-EC4D3441DEB9}"/>
              </a:ext>
            </a:extLst>
          </p:cNvPr>
          <p:cNvSpPr txBox="1"/>
          <p:nvPr/>
        </p:nvSpPr>
        <p:spPr>
          <a:xfrm>
            <a:off x="2569590" y="5274173"/>
            <a:ext cx="8477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A_FULL </a:t>
            </a:r>
            <a:r>
              <a:rPr lang="ko-KR" altLang="en-US" dirty="0"/>
              <a:t>값은 </a:t>
            </a:r>
            <a:r>
              <a:rPr lang="en-US" altLang="ko-KR" dirty="0"/>
              <a:t>7</a:t>
            </a:r>
            <a:r>
              <a:rPr lang="ko-KR" altLang="en-US" dirty="0"/>
              <a:t>로 </a:t>
            </a:r>
            <a:r>
              <a:rPr lang="en-US" altLang="ko-KR" dirty="0"/>
              <a:t>32</a:t>
            </a:r>
            <a:r>
              <a:rPr lang="ko-KR" altLang="en-US" dirty="0"/>
              <a:t>개의 </a:t>
            </a:r>
            <a:r>
              <a:rPr lang="en-US" altLang="ko-KR" dirty="0"/>
              <a:t>FIFO </a:t>
            </a:r>
            <a:r>
              <a:rPr lang="ko-KR" altLang="en-US" dirty="0"/>
              <a:t>샘플 값이</a:t>
            </a:r>
            <a:r>
              <a:rPr lang="en-US" altLang="ko-KR" dirty="0"/>
              <a:t> 7</a:t>
            </a:r>
            <a:r>
              <a:rPr lang="ko-KR" altLang="en-US" dirty="0"/>
              <a:t>개가 찼을 때 인터럽트를 발생시킨다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3F4B8A-4113-59CD-ACE4-9BFD89B927C3}"/>
              </a:ext>
            </a:extLst>
          </p:cNvPr>
          <p:cNvSpPr txBox="1"/>
          <p:nvPr/>
        </p:nvSpPr>
        <p:spPr>
          <a:xfrm>
            <a:off x="2569590" y="5839368"/>
            <a:ext cx="920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즉 해당 디바이스는 센서에서 처리한 </a:t>
            </a:r>
            <a:r>
              <a:rPr lang="en-US" altLang="ko-KR" dirty="0"/>
              <a:t>7</a:t>
            </a:r>
            <a:r>
              <a:rPr lang="ko-KR" altLang="en-US" dirty="0"/>
              <a:t>개의 평균샘플들을 다시 평균값으로 읽어 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471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1415C9F-96E2-DF49-F0E6-623F0FD0B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7" y="191335"/>
            <a:ext cx="2740947" cy="21187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87E7A2E-B231-9ECE-B4C0-9E2DD166A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087" y="1250719"/>
            <a:ext cx="10331116" cy="25728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BFFADA-0B13-C195-118D-CA26B6756E18}"/>
              </a:ext>
            </a:extLst>
          </p:cNvPr>
          <p:cNvSpPr txBox="1"/>
          <p:nvPr/>
        </p:nvSpPr>
        <p:spPr>
          <a:xfrm>
            <a:off x="1896894" y="4503906"/>
            <a:ext cx="721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0x00 </a:t>
            </a:r>
            <a:r>
              <a:rPr lang="ko-KR" altLang="en-US" dirty="0"/>
              <a:t>인터럽트 레지스터의 최상위 비트에서 인터럽트를 감지합니다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2EEBD8-9656-2480-ABEB-D30E1DE0EED8}"/>
              </a:ext>
            </a:extLst>
          </p:cNvPr>
          <p:cNvSpPr txBox="1"/>
          <p:nvPr/>
        </p:nvSpPr>
        <p:spPr>
          <a:xfrm>
            <a:off x="1896894" y="5222962"/>
            <a:ext cx="10317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코드에 의해 </a:t>
            </a:r>
            <a:r>
              <a:rPr lang="en-US" altLang="ko-KR" dirty="0"/>
              <a:t>8</a:t>
            </a:r>
            <a:r>
              <a:rPr lang="ko-KR" altLang="en-US" dirty="0"/>
              <a:t>개의 측정값들을 </a:t>
            </a:r>
            <a:r>
              <a:rPr lang="ko-KR" altLang="en-US" dirty="0" err="1"/>
              <a:t>평균된</a:t>
            </a:r>
            <a:r>
              <a:rPr lang="ko-KR" altLang="en-US" dirty="0"/>
              <a:t> 샘플들이 </a:t>
            </a:r>
            <a:r>
              <a:rPr lang="en-US" altLang="ko-KR" dirty="0"/>
              <a:t>7</a:t>
            </a:r>
            <a:r>
              <a:rPr lang="ko-KR" altLang="en-US" dirty="0"/>
              <a:t>개가 쌓이면 </a:t>
            </a:r>
            <a:r>
              <a:rPr lang="en-US" altLang="ko-KR" dirty="0"/>
              <a:t>7</a:t>
            </a:r>
            <a:r>
              <a:rPr lang="ko-KR" altLang="en-US" dirty="0"/>
              <a:t>개를 다시 평균값으로 계산합니다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0726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91D1-3A48-6C5F-E656-A3F9CDF5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F2234E-056D-274B-EE66-36816D690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7" y="191335"/>
            <a:ext cx="2740947" cy="21187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7BAC75D-05F4-6822-62B3-9DE2E71A1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70" y="1250719"/>
            <a:ext cx="10166430" cy="156935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2E7B6DF-91BC-CE0C-2531-874175ED7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269" y="2519281"/>
            <a:ext cx="10166430" cy="23574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E3A3E8D-EE5C-973B-F112-B278CEEAE2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33155"/>
          <a:stretch>
            <a:fillRect/>
          </a:stretch>
        </p:blipFill>
        <p:spPr>
          <a:xfrm>
            <a:off x="3022878" y="698193"/>
            <a:ext cx="3229426" cy="36933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1D75661-A319-0989-3C90-14F2208425E4}"/>
              </a:ext>
            </a:extLst>
          </p:cNvPr>
          <p:cNvSpPr/>
          <p:nvPr/>
        </p:nvSpPr>
        <p:spPr>
          <a:xfrm>
            <a:off x="1701478" y="3672647"/>
            <a:ext cx="10031221" cy="428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D3B63A8-0284-352D-0498-188609A9D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268" y="4119901"/>
            <a:ext cx="10166430" cy="183284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5A94E5-7340-4D63-514E-A32E94FBFFA6}"/>
              </a:ext>
            </a:extLst>
          </p:cNvPr>
          <p:cNvSpPr/>
          <p:nvPr/>
        </p:nvSpPr>
        <p:spPr>
          <a:xfrm>
            <a:off x="1701477" y="4772328"/>
            <a:ext cx="10031221" cy="428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131503-A09D-6CF1-5BB0-98BC04556F0A}"/>
              </a:ext>
            </a:extLst>
          </p:cNvPr>
          <p:cNvSpPr txBox="1"/>
          <p:nvPr/>
        </p:nvSpPr>
        <p:spPr>
          <a:xfrm>
            <a:off x="6435524" y="698193"/>
            <a:ext cx="3743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심박수 만을 측정하기 위한 </a:t>
            </a:r>
            <a:r>
              <a:rPr lang="ko-KR" altLang="en-US" dirty="0" err="1"/>
              <a:t>설정값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673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8F52-E1EC-56B5-EAD8-B81DAB65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E775D6-479B-B3E6-ADCA-403B91388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7" y="191335"/>
            <a:ext cx="2740947" cy="21187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4DA698C-74F6-517F-07F7-4D8923A3B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70" y="1250719"/>
            <a:ext cx="10166430" cy="15693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5381CE3-6A54-D132-87E8-1B801ACE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270" y="2632327"/>
            <a:ext cx="10166430" cy="29749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382FB1E-AAE9-2890-D909-AD0FED91DE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33155"/>
          <a:stretch>
            <a:fillRect/>
          </a:stretch>
        </p:blipFill>
        <p:spPr>
          <a:xfrm>
            <a:off x="3022878" y="698193"/>
            <a:ext cx="3229426" cy="3693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872829F-4413-E22C-0EF3-DBB7C37F0969}"/>
              </a:ext>
            </a:extLst>
          </p:cNvPr>
          <p:cNvSpPr txBox="1"/>
          <p:nvPr/>
        </p:nvSpPr>
        <p:spPr>
          <a:xfrm>
            <a:off x="1633874" y="5560172"/>
            <a:ext cx="606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심박수를 정확하게 측정하기 위해 위 와 같이 설정하였다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EACDAA-BD44-EE10-C9F3-3A0E4DAF6EC1}"/>
              </a:ext>
            </a:extLst>
          </p:cNvPr>
          <p:cNvSpPr/>
          <p:nvPr/>
        </p:nvSpPr>
        <p:spPr>
          <a:xfrm>
            <a:off x="1633874" y="4887988"/>
            <a:ext cx="10031221" cy="428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50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E8805-C8D0-3B42-70CA-821AE1B3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16432BE-5231-A725-A37B-DA95A6C3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7" y="191335"/>
            <a:ext cx="2740947" cy="211876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F6C5943-CEC3-571E-795D-C8006225E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744" y="752354"/>
            <a:ext cx="3579803" cy="3776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1E4284-E50C-72F9-689F-07CAA2945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270" y="1250719"/>
            <a:ext cx="9869517" cy="18042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F80027-C6D0-AC04-7CD9-3D9851CD7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270" y="3142483"/>
            <a:ext cx="9255256" cy="34910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227AF9-3587-7161-AD4C-F54102CB0D25}"/>
              </a:ext>
            </a:extLst>
          </p:cNvPr>
          <p:cNvSpPr txBox="1"/>
          <p:nvPr/>
        </p:nvSpPr>
        <p:spPr>
          <a:xfrm>
            <a:off x="3588151" y="5237949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0x22h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A5208-B7DA-4A58-21D6-7164BEF28608}"/>
              </a:ext>
            </a:extLst>
          </p:cNvPr>
          <p:cNvSpPr txBox="1"/>
          <p:nvPr/>
        </p:nvSpPr>
        <p:spPr>
          <a:xfrm>
            <a:off x="8137002" y="5237949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6.8mA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11D672-9C6A-440E-F2FA-58A673CB839E}"/>
              </a:ext>
            </a:extLst>
          </p:cNvPr>
          <p:cNvSpPr/>
          <p:nvPr/>
        </p:nvSpPr>
        <p:spPr>
          <a:xfrm>
            <a:off x="1585930" y="5179018"/>
            <a:ext cx="9255256" cy="428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E82DFD-EFE8-2AFF-6ED3-AE93E6ED1B50}"/>
              </a:ext>
            </a:extLst>
          </p:cNvPr>
          <p:cNvSpPr txBox="1"/>
          <p:nvPr/>
        </p:nvSpPr>
        <p:spPr>
          <a:xfrm>
            <a:off x="6713316" y="856527"/>
            <a:ext cx="4435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전력 효율과 정확성을 고려하여 </a:t>
            </a:r>
            <a:r>
              <a:rPr lang="ko-KR" altLang="en-US" dirty="0" err="1"/>
              <a:t>중간값을</a:t>
            </a:r>
            <a:endParaRPr lang="en-US" altLang="ko-KR" dirty="0"/>
          </a:p>
          <a:p>
            <a:r>
              <a:rPr lang="ko-KR" altLang="en-US" dirty="0"/>
              <a:t>사용했습니다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3038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A0BA37D-DFAE-2ECF-DD6A-69F342901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" y="0"/>
            <a:ext cx="2172003" cy="26737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E881A95-3C4B-8293-1107-31BF2E114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109" y="265671"/>
            <a:ext cx="9178346" cy="43821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D712EE5-1034-30EC-6E1E-09FFF2ACC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761" y="2456727"/>
            <a:ext cx="9487116" cy="409632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BD9A0B-9362-24BB-98BB-7124234F0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109" y="875890"/>
            <a:ext cx="5553850" cy="35247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FC19CAB-6FF7-2F1C-938F-399B9BF06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9109" y="3386524"/>
            <a:ext cx="5458587" cy="2985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038FAC-67A8-F0F5-613D-52B7D8C76E65}"/>
              </a:ext>
            </a:extLst>
          </p:cNvPr>
          <p:cNvSpPr txBox="1"/>
          <p:nvPr/>
        </p:nvSpPr>
        <p:spPr>
          <a:xfrm>
            <a:off x="405114" y="4016415"/>
            <a:ext cx="4143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낙상감지만을 위한 센서이므로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Output data rate</a:t>
            </a:r>
            <a:r>
              <a:rPr lang="ko-KR" altLang="en-US" dirty="0"/>
              <a:t>를 높지 않게 설정하였다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5045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DCD-6BC4-C323-E790-2E8193CA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5AC9C8-3659-8695-B0A4-A04342C8B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8" y="0"/>
            <a:ext cx="2172003" cy="267375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05CE5E8-B077-673C-ED57-927BE20E0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759" y="4617122"/>
            <a:ext cx="6382641" cy="146705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93DA37-BF91-7782-8C39-4B6CEF421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618" y="773823"/>
            <a:ext cx="10920624" cy="34104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60CF2F4-3971-86E8-D797-3D7FBEA07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6450" y="192717"/>
            <a:ext cx="4334480" cy="581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BFEA9D-B506-FDB8-0976-2C88AC54D900}"/>
              </a:ext>
            </a:extLst>
          </p:cNvPr>
          <p:cNvSpPr txBox="1"/>
          <p:nvPr/>
        </p:nvSpPr>
        <p:spPr>
          <a:xfrm>
            <a:off x="7893934" y="4757195"/>
            <a:ext cx="35125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낙상감지를 위해 측정할 수 있는</a:t>
            </a:r>
            <a:endParaRPr lang="en-US" altLang="ko-KR" dirty="0"/>
          </a:p>
          <a:p>
            <a:r>
              <a:rPr lang="en-US" altLang="ko-KR" dirty="0"/>
              <a:t>G</a:t>
            </a:r>
            <a:r>
              <a:rPr lang="ko-KR" altLang="en-US" dirty="0"/>
              <a:t>의 범위를 크게 설정하였다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해상도는 낮지만 낙상감지를</a:t>
            </a:r>
            <a:endParaRPr lang="en-US" altLang="ko-KR" dirty="0"/>
          </a:p>
          <a:p>
            <a:r>
              <a:rPr lang="ko-KR" altLang="en-US" dirty="0"/>
              <a:t>에는 충분하다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EDB2E7-3D29-EFE3-72F9-738C8D92AE5E}"/>
              </a:ext>
            </a:extLst>
          </p:cNvPr>
          <p:cNvSpPr/>
          <p:nvPr/>
        </p:nvSpPr>
        <p:spPr>
          <a:xfrm>
            <a:off x="3183037" y="5650780"/>
            <a:ext cx="3055717" cy="4333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5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60F4-308F-E7DF-9C6F-95ECBEE4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7996EA0-AE16-564E-883B-E9C1F9158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" y="0"/>
            <a:ext cx="2172003" cy="267375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7BC90A0-2E2D-B954-EB44-E7DF25AC6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59" y="763929"/>
            <a:ext cx="10924483" cy="32657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8E66DC6-DB30-6FE8-652B-2D09F3383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759" y="4184249"/>
            <a:ext cx="7747322" cy="25625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33B4C1E-9F69-0440-4AE9-F20C7E120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761" y="57196"/>
            <a:ext cx="4305901" cy="543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3AB39F-48DF-4914-D024-EDEA0A7B04CF}"/>
              </a:ext>
            </a:extLst>
          </p:cNvPr>
          <p:cNvSpPr txBox="1"/>
          <p:nvPr/>
        </p:nvSpPr>
        <p:spPr>
          <a:xfrm>
            <a:off x="9132425" y="4282633"/>
            <a:ext cx="28055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마찬가지로 자이로스코프</a:t>
            </a:r>
            <a:endParaRPr lang="en-US" altLang="ko-KR" dirty="0"/>
          </a:p>
          <a:p>
            <a:r>
              <a:rPr lang="ko-KR" altLang="en-US" dirty="0"/>
              <a:t>의 측정 범위를 최대로</a:t>
            </a:r>
            <a:endParaRPr lang="en-US" altLang="ko-KR" dirty="0"/>
          </a:p>
          <a:p>
            <a:r>
              <a:rPr lang="ko-KR" altLang="en-US" dirty="0"/>
              <a:t>설정하였다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LSB</a:t>
            </a:r>
            <a:r>
              <a:rPr lang="ko-KR" altLang="en-US" dirty="0"/>
              <a:t> 당 가속도</a:t>
            </a:r>
            <a:r>
              <a:rPr lang="en-US" altLang="ko-KR" dirty="0"/>
              <a:t>(</a:t>
            </a:r>
            <a:r>
              <a:rPr lang="ko-KR" altLang="en-US" dirty="0"/>
              <a:t>해상도</a:t>
            </a:r>
            <a:r>
              <a:rPr lang="en-US" altLang="ko-KR" dirty="0"/>
              <a:t>)</a:t>
            </a:r>
            <a:r>
              <a:rPr lang="ko-KR" altLang="en-US" dirty="0"/>
              <a:t>는</a:t>
            </a:r>
            <a:endParaRPr lang="en-US" altLang="ko-KR" dirty="0"/>
          </a:p>
          <a:p>
            <a:r>
              <a:rPr lang="ko-KR" altLang="en-US" dirty="0"/>
              <a:t>낮아지지만 낙상감지만을</a:t>
            </a:r>
            <a:endParaRPr lang="en-US" altLang="ko-KR" dirty="0"/>
          </a:p>
          <a:p>
            <a:r>
              <a:rPr lang="ko-KR" altLang="en-US" dirty="0"/>
              <a:t>측정하는데 충분하다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29C347-762E-E8DD-D8F3-4D3D91201C1F}"/>
              </a:ext>
            </a:extLst>
          </p:cNvPr>
          <p:cNvSpPr/>
          <p:nvPr/>
        </p:nvSpPr>
        <p:spPr>
          <a:xfrm>
            <a:off x="1176759" y="4576906"/>
            <a:ext cx="7747322" cy="342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865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54FA7-B755-1683-83AF-3A4030D4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DB3EA2-9922-021E-62DE-40FCED544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" y="0"/>
            <a:ext cx="2172003" cy="26737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4D3D7A-BE59-0F60-DDA9-26329A1BC66B}"/>
              </a:ext>
            </a:extLst>
          </p:cNvPr>
          <p:cNvSpPr txBox="1"/>
          <p:nvPr/>
        </p:nvSpPr>
        <p:spPr>
          <a:xfrm>
            <a:off x="2262760" y="118448"/>
            <a:ext cx="2735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낙상감지 로직</a:t>
            </a:r>
            <a:endParaRPr lang="en-US" altLang="ko-KR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EA2FB2-7527-0C3F-BFF3-7450F25F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54" y="760117"/>
            <a:ext cx="9831172" cy="33242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0EBE14-94DA-58C4-DC43-C87C009E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21" y="3590499"/>
            <a:ext cx="4113162" cy="25078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96261E-C798-CAF2-9779-9ED718947EFF}"/>
              </a:ext>
            </a:extLst>
          </p:cNvPr>
          <p:cNvSpPr txBox="1"/>
          <p:nvPr/>
        </p:nvSpPr>
        <p:spPr>
          <a:xfrm>
            <a:off x="359337" y="6214615"/>
            <a:ext cx="1183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5"/>
              </a:rPr>
              <a:t>https://www.analog.com/en/resources/analog-dialogue/articles/detecting-falls-3-axis-digital-accelerometer.html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864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C682-A586-BFE6-BBA6-992ACFA0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B277FE-C4FA-5669-B30B-040D500F2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" y="0"/>
            <a:ext cx="2172003" cy="267375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0B21121-DF2D-F7BB-8EBD-331536FE1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236" y="701465"/>
            <a:ext cx="9093726" cy="5544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294471-EA26-611C-8B23-C4E43BAB3122}"/>
              </a:ext>
            </a:extLst>
          </p:cNvPr>
          <p:cNvSpPr txBox="1"/>
          <p:nvPr/>
        </p:nvSpPr>
        <p:spPr>
          <a:xfrm>
            <a:off x="5463702" y="495797"/>
            <a:ext cx="299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2. </a:t>
            </a:r>
            <a:r>
              <a:rPr lang="ko-KR" altLang="en-US" dirty="0" err="1">
                <a:solidFill>
                  <a:srgbClr val="FF0000"/>
                </a:solidFill>
              </a:rPr>
              <a:t>자이로</a:t>
            </a:r>
            <a:r>
              <a:rPr lang="ko-KR" altLang="en-US" dirty="0">
                <a:solidFill>
                  <a:srgbClr val="FF0000"/>
                </a:solidFill>
              </a:rPr>
              <a:t> 센서로 충격 감지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F6595-31B4-2CF9-CBC9-FC5CB26441EA}"/>
              </a:ext>
            </a:extLst>
          </p:cNvPr>
          <p:cNvSpPr txBox="1"/>
          <p:nvPr/>
        </p:nvSpPr>
        <p:spPr>
          <a:xfrm>
            <a:off x="4682247" y="1961431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1. </a:t>
            </a:r>
            <a:r>
              <a:rPr lang="ko-KR" altLang="en-US" dirty="0">
                <a:solidFill>
                  <a:srgbClr val="FF0000"/>
                </a:solidFill>
              </a:rPr>
              <a:t>가속도 값이 </a:t>
            </a:r>
            <a:r>
              <a:rPr lang="en-US" altLang="ko-KR" dirty="0">
                <a:solidFill>
                  <a:srgbClr val="FF0000"/>
                </a:solidFill>
              </a:rPr>
              <a:t>0</a:t>
            </a:r>
            <a:r>
              <a:rPr lang="ko-KR" altLang="en-US" dirty="0">
                <a:solidFill>
                  <a:srgbClr val="FF0000"/>
                </a:solidFill>
              </a:rPr>
              <a:t>으로 </a:t>
            </a:r>
            <a:r>
              <a:rPr lang="ko-KR" altLang="en-US" dirty="0" err="1">
                <a:solidFill>
                  <a:srgbClr val="FF0000"/>
                </a:solidFill>
              </a:rPr>
              <a:t>가까워짐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804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7A629-9F7C-2AD4-15A2-BA6933E35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27ACDC-E346-78AF-96F4-83F2FE6F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" y="0"/>
            <a:ext cx="2172003" cy="26737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807563-1EB7-E3E9-19B5-FF4ACB88DA41}"/>
              </a:ext>
            </a:extLst>
          </p:cNvPr>
          <p:cNvSpPr txBox="1"/>
          <p:nvPr/>
        </p:nvSpPr>
        <p:spPr>
          <a:xfrm>
            <a:off x="2327928" y="14417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low-g </a:t>
            </a:r>
            <a:r>
              <a:rPr lang="ko-KR" altLang="en-US" dirty="0"/>
              <a:t>인터럽트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2AA296-4AFE-38E2-AC8B-3DC6C6F93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73" y="927904"/>
            <a:ext cx="6954891" cy="5665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2F8DB0-8C07-843B-49CF-96731B6CBF1D}"/>
              </a:ext>
            </a:extLst>
          </p:cNvPr>
          <p:cNvSpPr txBox="1"/>
          <p:nvPr/>
        </p:nvSpPr>
        <p:spPr>
          <a:xfrm>
            <a:off x="7519481" y="2081719"/>
            <a:ext cx="275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Low_th</a:t>
            </a:r>
            <a:r>
              <a:rPr lang="ko-KR" altLang="en-US" dirty="0"/>
              <a:t>값을 </a:t>
            </a:r>
            <a:r>
              <a:rPr lang="en-US" altLang="ko-KR" dirty="0"/>
              <a:t>0.4g </a:t>
            </a:r>
            <a:r>
              <a:rPr lang="ko-KR" altLang="en-US" dirty="0"/>
              <a:t>로 설정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0CD39-A41D-6904-C5C4-B96C8CE26F42}"/>
              </a:ext>
            </a:extLst>
          </p:cNvPr>
          <p:cNvSpPr txBox="1"/>
          <p:nvPr/>
        </p:nvSpPr>
        <p:spPr>
          <a:xfrm>
            <a:off x="7519481" y="3628257"/>
            <a:ext cx="3010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Low_dur</a:t>
            </a:r>
            <a:r>
              <a:rPr lang="ko-KR" altLang="en-US" dirty="0"/>
              <a:t>값을 </a:t>
            </a:r>
            <a:r>
              <a:rPr lang="en-US" altLang="ko-KR" dirty="0"/>
              <a:t>20ms </a:t>
            </a:r>
            <a:r>
              <a:rPr lang="ko-KR" altLang="en-US" dirty="0"/>
              <a:t>로 설정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C599D-4374-03AF-43B0-E7C48D8E5281}"/>
              </a:ext>
            </a:extLst>
          </p:cNvPr>
          <p:cNvSpPr txBox="1"/>
          <p:nvPr/>
        </p:nvSpPr>
        <p:spPr>
          <a:xfrm>
            <a:off x="7928043" y="5447489"/>
            <a:ext cx="3046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0.4g</a:t>
            </a:r>
            <a:r>
              <a:rPr lang="ko-KR" altLang="en-US" dirty="0"/>
              <a:t>가 </a:t>
            </a:r>
            <a:r>
              <a:rPr lang="en-US" altLang="ko-KR" dirty="0"/>
              <a:t>20ms </a:t>
            </a:r>
            <a:r>
              <a:rPr lang="ko-KR" altLang="en-US" dirty="0"/>
              <a:t>동안 지속되면</a:t>
            </a:r>
            <a:endParaRPr lang="en-US" altLang="ko-KR" dirty="0"/>
          </a:p>
          <a:p>
            <a:r>
              <a:rPr lang="ko-KR" altLang="en-US" dirty="0"/>
              <a:t>인터럽트가 발생된다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3BC91-4FA3-15F5-D9A0-72C10A4A07B1}"/>
              </a:ext>
            </a:extLst>
          </p:cNvPr>
          <p:cNvSpPr txBox="1"/>
          <p:nvPr/>
        </p:nvSpPr>
        <p:spPr>
          <a:xfrm>
            <a:off x="1286335" y="2256657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0.4g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2D5DC-9449-B3D7-80DF-3CA51CF46276}"/>
              </a:ext>
            </a:extLst>
          </p:cNvPr>
          <p:cNvSpPr txBox="1"/>
          <p:nvPr/>
        </p:nvSpPr>
        <p:spPr>
          <a:xfrm>
            <a:off x="1461433" y="395474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20ms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A8F6984-68F7-3D84-4DD9-AF2D62624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074" y="99113"/>
            <a:ext cx="7116168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42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4F54-3CBE-540B-408F-F9FE5BDD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E0493D-33F1-5D62-1E91-7E72CEA15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" y="0"/>
            <a:ext cx="2172003" cy="26737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C3E23D-9655-24A4-6BDB-561B048F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59" y="363855"/>
            <a:ext cx="7878274" cy="17528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124C9B-30EC-B305-3F6A-06C7BED345D8}"/>
              </a:ext>
            </a:extLst>
          </p:cNvPr>
          <p:cNvSpPr txBox="1"/>
          <p:nvPr/>
        </p:nvSpPr>
        <p:spPr>
          <a:xfrm>
            <a:off x="2320900" y="5169768"/>
            <a:ext cx="64812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인터럽트가 발생하고 일정시간동안 </a:t>
            </a:r>
            <a:r>
              <a:rPr lang="ko-KR" altLang="en-US" dirty="0" err="1"/>
              <a:t>가속도값이</a:t>
            </a:r>
            <a:r>
              <a:rPr lang="ko-KR" altLang="en-US" dirty="0"/>
              <a:t> </a:t>
            </a:r>
            <a:r>
              <a:rPr lang="en-US" altLang="ko-KR" dirty="0"/>
              <a:t>1g </a:t>
            </a:r>
            <a:r>
              <a:rPr lang="ko-KR" altLang="en-US" dirty="0"/>
              <a:t>보다 크고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자이로</a:t>
            </a:r>
            <a:r>
              <a:rPr lang="ko-KR" altLang="en-US" dirty="0"/>
              <a:t> 값이 설정한 </a:t>
            </a:r>
            <a:r>
              <a:rPr lang="ko-KR" altLang="en-US" dirty="0" err="1"/>
              <a:t>임계값보다</a:t>
            </a:r>
            <a:r>
              <a:rPr lang="ko-KR" altLang="en-US" dirty="0"/>
              <a:t> 크다면 낙상사고가 발생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4D8BE1D-6625-F6FE-E11C-56B3355AC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759" y="2805559"/>
            <a:ext cx="7878274" cy="22101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5DA8EB-96B3-B2B9-9395-7BC230091176}"/>
              </a:ext>
            </a:extLst>
          </p:cNvPr>
          <p:cNvSpPr txBox="1"/>
          <p:nvPr/>
        </p:nvSpPr>
        <p:spPr>
          <a:xfrm>
            <a:off x="2320900" y="2161084"/>
            <a:ext cx="558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인터럽트가 발생한다면 </a:t>
            </a:r>
            <a:r>
              <a:rPr lang="ko-KR" altLang="en-US" dirty="0" err="1"/>
              <a:t>가속도값을</a:t>
            </a:r>
            <a:r>
              <a:rPr lang="ko-KR" altLang="en-US" dirty="0"/>
              <a:t> 측정하기 시작함</a:t>
            </a:r>
          </a:p>
        </p:txBody>
      </p:sp>
    </p:spTree>
    <p:extLst>
      <p:ext uri="{BB962C8B-B14F-4D97-AF65-F5344CB8AC3E}">
        <p14:creationId xmlns:p14="http://schemas.microsoft.com/office/powerpoint/2010/main" val="4187080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7E409-975E-20BE-0DCA-44E20033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88672AB-658C-3443-9BDB-83B287EF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" y="0"/>
            <a:ext cx="2172003" cy="26737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3BC945-0077-9B43-DC57-F510172F06D0}"/>
              </a:ext>
            </a:extLst>
          </p:cNvPr>
          <p:cNvSpPr txBox="1"/>
          <p:nvPr/>
        </p:nvSpPr>
        <p:spPr>
          <a:xfrm>
            <a:off x="2262761" y="13208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전력 효율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756DC7-F69B-2AD0-9A63-C95CE07C9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59" y="951936"/>
            <a:ext cx="10769600" cy="26376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DADD50-69DB-559F-7BA4-A027430E9B9F}"/>
              </a:ext>
            </a:extLst>
          </p:cNvPr>
          <p:cNvSpPr txBox="1"/>
          <p:nvPr/>
        </p:nvSpPr>
        <p:spPr>
          <a:xfrm>
            <a:off x="1554480" y="3911600"/>
            <a:ext cx="75536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저전력으로 효율적으로 구동하기 위해서 </a:t>
            </a:r>
            <a:r>
              <a:rPr lang="en-US" altLang="ko-KR" dirty="0"/>
              <a:t>Suspend </a:t>
            </a:r>
            <a:r>
              <a:rPr lang="ko-KR" altLang="en-US" dirty="0"/>
              <a:t>모드와 </a:t>
            </a:r>
            <a:r>
              <a:rPr lang="en-US" altLang="ko-KR" dirty="0" err="1"/>
              <a:t>Noraml</a:t>
            </a:r>
            <a:r>
              <a:rPr lang="en-US" altLang="ko-KR" dirty="0"/>
              <a:t> </a:t>
            </a:r>
            <a:r>
              <a:rPr lang="ko-KR" altLang="en-US" dirty="0"/>
              <a:t>모드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센서 착용시 </a:t>
            </a:r>
            <a:r>
              <a:rPr lang="en-US" altLang="ko-KR" dirty="0"/>
              <a:t>Suspend -&gt; Normal </a:t>
            </a:r>
            <a:r>
              <a:rPr lang="ko-KR" altLang="en-US" dirty="0"/>
              <a:t>모드로 바뀌도록 개발함</a:t>
            </a:r>
          </a:p>
        </p:txBody>
      </p:sp>
    </p:spTree>
    <p:extLst>
      <p:ext uri="{BB962C8B-B14F-4D97-AF65-F5344CB8AC3E}">
        <p14:creationId xmlns:p14="http://schemas.microsoft.com/office/powerpoint/2010/main" val="1469135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2BAF9-6CBA-F596-07EE-E2752C26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AD0A8D7-B36B-B0D0-18A0-791E2742F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71" y="3856969"/>
            <a:ext cx="7953893" cy="26376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CB5A848-CDF3-5332-ADA8-212028696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68" y="3213369"/>
            <a:ext cx="2172003" cy="267375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EC7CA92-323F-9C5D-2F2B-5C989AEA8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97" y="191335"/>
            <a:ext cx="2740947" cy="21187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09EC6B9-7DF6-A600-BD03-28DFF5513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23" y="2310104"/>
            <a:ext cx="3200847" cy="447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4493E9-169C-8FDF-4F00-D852ACEF078A}"/>
              </a:ext>
            </a:extLst>
          </p:cNvPr>
          <p:cNvSpPr txBox="1"/>
          <p:nvPr/>
        </p:nvSpPr>
        <p:spPr>
          <a:xfrm>
            <a:off x="3576320" y="894080"/>
            <a:ext cx="34820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Raw </a:t>
            </a:r>
            <a:r>
              <a:rPr lang="ko-KR" altLang="en-US" dirty="0"/>
              <a:t>값이 설정한 </a:t>
            </a:r>
            <a:r>
              <a:rPr lang="ko-KR" altLang="en-US" dirty="0" err="1"/>
              <a:t>임계값에</a:t>
            </a:r>
            <a:r>
              <a:rPr lang="ko-KR" altLang="en-US" dirty="0"/>
              <a:t> 따라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착용 여부를 감지함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BD581C-F6A1-798E-5AE1-21D7ACBDB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8018" y="400074"/>
            <a:ext cx="3315163" cy="21338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922C6E7-67A0-FBEE-69F0-EB2A78981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8462" y="3213369"/>
            <a:ext cx="5229955" cy="19624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CD59B5-2F44-AB5A-5C88-CF4B6B667317}"/>
              </a:ext>
            </a:extLst>
          </p:cNvPr>
          <p:cNvSpPr txBox="1"/>
          <p:nvPr/>
        </p:nvSpPr>
        <p:spPr>
          <a:xfrm>
            <a:off x="3724565" y="2771075"/>
            <a:ext cx="4417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착용시 </a:t>
            </a:r>
            <a:r>
              <a:rPr lang="en-US" altLang="ko-KR" dirty="0"/>
              <a:t>Suspend mode -&gt; Normal mode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882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305</Words>
  <Application>Microsoft Office PowerPoint</Application>
  <PresentationFormat>와이드스크린</PresentationFormat>
  <Paragraphs>57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이영준</dc:creator>
  <cp:lastModifiedBy>이영준</cp:lastModifiedBy>
  <cp:revision>1</cp:revision>
  <dcterms:created xsi:type="dcterms:W3CDTF">2025-09-22T05:37:11Z</dcterms:created>
  <dcterms:modified xsi:type="dcterms:W3CDTF">2025-09-22T08:02:55Z</dcterms:modified>
</cp:coreProperties>
</file>